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12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5" r:id="rId3"/>
    <p:sldId id="267" r:id="rId4"/>
    <p:sldId id="266" r:id="rId5"/>
    <p:sldId id="258" r:id="rId6"/>
    <p:sldId id="259" r:id="rId7"/>
    <p:sldId id="271" r:id="rId8"/>
    <p:sldId id="272" r:id="rId9"/>
    <p:sldId id="261" r:id="rId10"/>
    <p:sldId id="268" r:id="rId11"/>
    <p:sldId id="269" r:id="rId12"/>
    <p:sldId id="270" r:id="rId13"/>
    <p:sldId id="264" r:id="rId14"/>
  </p:sldIdLst>
  <p:sldSz cx="12192000" cy="6858000"/>
  <p:notesSz cx="6858000" cy="9144000"/>
  <p:defaultTextStyle>
    <a:defPPr algn="r" rtl="1"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2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27C4141A-045B-41B6-9D67-766569A9C3AE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A975D426-A9DD-4244-A2CE-1FB6623742C7}" type="slidenum">
              <a:rPr lang="en-US" smtClean="0"/>
              <a:pPr algn="l" rtl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5T19:08:43.93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0,'881'881,"-870"-870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8EB3E2D3-D4BD-4C4F-A71C-51A5A45C804F}" type="datetime1">
              <a:rPr lang="he-IL" smtClean="0"/>
              <a:t>י"ז/אדר ב/תשפ"ד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he"/>
              <a:t>לחץ כדי לערוך סגנונות טקסט של תבנית בסיס</a:t>
            </a:r>
          </a:p>
          <a:p>
            <a:pPr lvl="1" rtl="1"/>
            <a:r>
              <a:rPr lang="he"/>
              <a:t>רמה שניה</a:t>
            </a:r>
          </a:p>
          <a:p>
            <a:pPr lvl="2" rtl="1"/>
            <a:r>
              <a:rPr lang="he"/>
              <a:t>רמה שלישית</a:t>
            </a:r>
          </a:p>
          <a:p>
            <a:pPr lvl="3" rtl="1"/>
            <a:r>
              <a:rPr lang="he"/>
              <a:t>רמה רביעית</a:t>
            </a:r>
          </a:p>
          <a:p>
            <a:pPr lvl="4" rtl="1"/>
            <a:r>
              <a:rPr lang="he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01B41D33-19C8-4450-B3C5-BE83E9C8F0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 flipH="1"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 flipH="1">
            <a:off x="617260" y="1020431"/>
            <a:ext cx="10993549" cy="1475013"/>
          </a:xfrm>
          <a:effectLst/>
        </p:spPr>
        <p:txBody>
          <a:bodyPr rtlCol="1" anchor="b">
            <a:normAutofit/>
          </a:bodyPr>
          <a:lstStyle>
            <a:lvl1pPr algn="r" rtl="1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 flipH="1">
            <a:off x="617260" y="2495445"/>
            <a:ext cx="10993546" cy="590321"/>
          </a:xfrm>
        </p:spPr>
        <p:txBody>
          <a:bodyPr rtlCol="1" anchor="t">
            <a:normAutofit/>
          </a:bodyPr>
          <a:lstStyle>
            <a:lvl1pPr marL="0" indent="0" algn="r" rtl="1">
              <a:buNone/>
              <a:defRPr sz="1600" cap="all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1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1"/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8" name="מציין מיקום של תאריך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0189598-C887-4DD4-B7E4-0A6F07D8F90C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9" name="מציין מיקום של כותרת תחתונה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581192" y="702156"/>
            <a:ext cx="11029616" cy="1188720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581193" y="2340864"/>
            <a:ext cx="11029615" cy="3634486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8" name="מציין מיקום של תאריך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0C59323-730E-4943-93D0-0D72EB289745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9" name="מציין מיקום של כותרת תחתונה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>
            <a:spLocks noChangeAspect="1"/>
          </p:cNvSpPr>
          <p:nvPr/>
        </p:nvSpPr>
        <p:spPr>
          <a:xfrm flipH="1">
            <a:off x="453323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581192" y="2393950"/>
            <a:ext cx="11029615" cy="2147467"/>
          </a:xfrm>
        </p:spPr>
        <p:txBody>
          <a:bodyPr rtlCol="1" anchor="b">
            <a:normAutofit/>
          </a:bodyPr>
          <a:lstStyle>
            <a:lvl1pPr algn="r" rtl="1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581193" y="4541417"/>
            <a:ext cx="11029615" cy="600556"/>
          </a:xfrm>
        </p:spPr>
        <p:txBody>
          <a:bodyPr rtlCol="1" anchor="t">
            <a:normAutofit/>
          </a:bodyPr>
          <a:lstStyle>
            <a:lvl1pPr marL="0" indent="0" algn="r" rtl="1">
              <a:buNone/>
              <a:defRPr sz="1800" cap="all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r" rtl="1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r" rtl="1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1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BCC091A-4E2D-443B-A655-310E81DB61F8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9" name="מציין מיקום של כותרת תחתונה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מציין מיקום של מספר שקופית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581191" y="729658"/>
            <a:ext cx="11029616" cy="988332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 flipH="1">
            <a:off x="6416040" y="2228003"/>
            <a:ext cx="5194767" cy="3633047"/>
          </a:xfrm>
        </p:spPr>
        <p:txBody>
          <a:bodyPr rtlCol="1">
            <a:normAutofit/>
          </a:bodyPr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 flipH="1">
            <a:off x="581192" y="2228003"/>
            <a:ext cx="5194769" cy="3633047"/>
          </a:xfrm>
        </p:spPr>
        <p:txBody>
          <a:bodyPr rtlCol="1">
            <a:normAutofit/>
          </a:bodyPr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1AAF3641-86C3-42E5-846E-8AE892042022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כותרת 1"/>
          <p:cNvSpPr>
            <a:spLocks noGrp="1"/>
          </p:cNvSpPr>
          <p:nvPr>
            <p:ph type="title"/>
          </p:nvPr>
        </p:nvSpPr>
        <p:spPr>
          <a:xfrm flipH="1">
            <a:off x="581191" y="729658"/>
            <a:ext cx="11029616" cy="988332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 hasCustomPrompt="1"/>
          </p:nvPr>
        </p:nvSpPr>
        <p:spPr>
          <a:xfrm flipH="1">
            <a:off x="6416040" y="2250891"/>
            <a:ext cx="5194769" cy="557784"/>
          </a:xfrm>
        </p:spPr>
        <p:txBody>
          <a:bodyPr rtlCol="1" anchor="ctr">
            <a:noAutofit/>
          </a:bodyPr>
          <a:lstStyle>
            <a:lvl1pPr marL="0" indent="0" algn="r" rtl="1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" dirty="0"/>
              <a:t>לחץ כדי לערוך סגנונות טקסט של תבנית</a:t>
            </a:r>
            <a:r>
              <a:rPr lang="he-IL" dirty="0"/>
              <a:t> </a:t>
            </a:r>
            <a:r>
              <a:rPr lang="he" dirty="0"/>
              <a:t>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 flipH="1">
            <a:off x="6416040" y="2926052"/>
            <a:ext cx="5194766" cy="2934999"/>
          </a:xfrm>
        </p:spPr>
        <p:txBody>
          <a:bodyPr rtlCol="1" anchor="t"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 hasCustomPrompt="1"/>
          </p:nvPr>
        </p:nvSpPr>
        <p:spPr>
          <a:xfrm flipH="1">
            <a:off x="581191" y="2250892"/>
            <a:ext cx="5194770" cy="553373"/>
          </a:xfrm>
        </p:spPr>
        <p:txBody>
          <a:bodyPr rtlCol="1" anchor="ctr">
            <a:noAutofit/>
          </a:bodyPr>
          <a:lstStyle>
            <a:lvl1pPr marL="0" marR="0" indent="0" algn="r" defTabSz="4572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he" dirty="0"/>
              <a:t>לחץ כדי לערוך סגנונות טקסט של תבנית</a:t>
            </a:r>
            <a:r>
              <a:rPr lang="he-IL" dirty="0"/>
              <a:t> </a:t>
            </a:r>
            <a:r>
              <a:rPr lang="he" dirty="0"/>
              <a:t>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 flipH="1">
            <a:off x="581192" y="2926052"/>
            <a:ext cx="5194771" cy="2934999"/>
          </a:xfrm>
        </p:spPr>
        <p:txBody>
          <a:bodyPr rtlCol="1" anchor="t">
            <a:normAutofit/>
          </a:bodyPr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EBEA75BD-14C3-4C9E-A804-56C5EDD80B18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en-US" dirty="0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1"/>
          <p:cNvSpPr>
            <a:spLocks noGrp="1"/>
          </p:cNvSpPr>
          <p:nvPr>
            <p:ph type="title"/>
          </p:nvPr>
        </p:nvSpPr>
        <p:spPr>
          <a:xfrm flipH="1">
            <a:off x="586490" y="729658"/>
            <a:ext cx="11029616" cy="988332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FA513C04-D7EC-4118-9F23-DBD090D4B67E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en-US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A1094690-44D4-4DE6-A8D5-1EBEDA8B7CA7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>
            <a:spLocks noChangeAspect="1"/>
          </p:cNvSpPr>
          <p:nvPr/>
        </p:nvSpPr>
        <p:spPr>
          <a:xfrm flipH="1">
            <a:off x="8061460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8392291" y="933450"/>
            <a:ext cx="3031852" cy="1722419"/>
          </a:xfrm>
        </p:spPr>
        <p:txBody>
          <a:bodyPr rtlCol="1" anchor="b">
            <a:normAutofit/>
          </a:bodyPr>
          <a:lstStyle>
            <a:lvl1pPr algn="r" rtl="1">
              <a:defRPr sz="2400" b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flipH="1">
            <a:off x="640081" y="1179829"/>
            <a:ext cx="6650991" cy="4658216"/>
          </a:xfrm>
        </p:spPr>
        <p:txBody>
          <a:bodyPr rtlCol="1" anchor="ctr">
            <a:normAutofit/>
          </a:bodyPr>
          <a:lstStyle>
            <a:lvl1pPr algn="r" rtl="1">
              <a:defRPr sz="20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 sz="1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 sz="16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 sz="14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 sz="14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algn="r" rtl="1">
              <a:defRPr sz="1400">
                <a:solidFill>
                  <a:schemeClr val="tx2"/>
                </a:solidFill>
              </a:defRPr>
            </a:lvl6pPr>
            <a:lvl7pPr algn="r" rtl="1">
              <a:defRPr sz="1400">
                <a:solidFill>
                  <a:schemeClr val="tx2"/>
                </a:solidFill>
              </a:defRPr>
            </a:lvl7pPr>
            <a:lvl8pPr algn="r" rtl="1">
              <a:defRPr sz="1400">
                <a:solidFill>
                  <a:schemeClr val="tx2"/>
                </a:solidFill>
              </a:defRPr>
            </a:lvl8pPr>
            <a:lvl9pPr algn="r" rtl="1">
              <a:defRPr sz="1400">
                <a:solidFill>
                  <a:schemeClr val="tx2"/>
                </a:solidFill>
              </a:defRPr>
            </a:lvl9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8392291" y="2836654"/>
            <a:ext cx="3031852" cy="3001392"/>
          </a:xfrm>
        </p:spPr>
        <p:txBody>
          <a:bodyPr rtlCol="1" anchor="t">
            <a:normAutofit/>
          </a:bodyPr>
          <a:lstStyle>
            <a:lvl1pPr marL="0" indent="0" algn="r" rtl="1">
              <a:buNone/>
              <a:defRPr sz="16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1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מציין מיקום של תאריך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741250" y="6456916"/>
            <a:ext cx="2844799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DDE7BF2-AF18-4D43-AF7B-55F1C06CB133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10" name="מציין מיקום של כותרת תחתונה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693598" y="6452590"/>
            <a:ext cx="69172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מציין מיקום של מספר שקופית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581190" y="6456916"/>
            <a:ext cx="10525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 flipH="1">
            <a:off x="581191" y="4693389"/>
            <a:ext cx="11029616" cy="566738"/>
          </a:xfrm>
        </p:spPr>
        <p:txBody>
          <a:bodyPr rtlCol="1" anchor="b">
            <a:normAutofit/>
          </a:bodyPr>
          <a:lstStyle>
            <a:lvl1pPr algn="r" rtl="1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מונה 2"/>
          <p:cNvSpPr>
            <a:spLocks noGrp="1" noChangeAspect="1"/>
          </p:cNvSpPr>
          <p:nvPr>
            <p:ph type="pic" idx="1"/>
          </p:nvPr>
        </p:nvSpPr>
        <p:spPr>
          <a:xfrm flipH="1">
            <a:off x="453324" y="641350"/>
            <a:ext cx="11290859" cy="3651249"/>
          </a:xfrm>
        </p:spPr>
        <p:txBody>
          <a:bodyPr rtlCol="1" anchor="t">
            <a:normAutofit/>
          </a:bodyPr>
          <a:lstStyle>
            <a:lvl1pPr marL="0" indent="0" algn="ctr" rtl="1">
              <a:buNone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600"/>
            </a:lvl4pPr>
            <a:lvl5pPr marL="1828800" indent="0" algn="r" rtl="1">
              <a:buNone/>
              <a:defRPr sz="1600"/>
            </a:lvl5pPr>
            <a:lvl6pPr marL="2286000" indent="0" algn="r" rtl="1">
              <a:buNone/>
              <a:defRPr sz="1600"/>
            </a:lvl6pPr>
            <a:lvl7pPr marL="2743200" indent="0" algn="r" rtl="1">
              <a:buNone/>
              <a:defRPr sz="1600"/>
            </a:lvl7pPr>
            <a:lvl8pPr marL="3200400" indent="0" algn="r" rtl="1">
              <a:buNone/>
              <a:defRPr sz="1600"/>
            </a:lvl8pPr>
            <a:lvl9pPr marL="3657600" indent="0" algn="r" rtl="1">
              <a:buNone/>
              <a:defRPr sz="1600"/>
            </a:lvl9pPr>
          </a:lstStyle>
          <a:p>
            <a:pPr rtl="1"/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 flipH="1">
            <a:off x="581191" y="5260127"/>
            <a:ext cx="11029617" cy="998148"/>
          </a:xfrm>
        </p:spPr>
        <p:txBody>
          <a:bodyPr rtlCol="1" anchor="t">
            <a:normAutofit/>
          </a:bodyPr>
          <a:lstStyle>
            <a:lvl1pPr marL="0" indent="0" algn="r" rtl="1">
              <a:buNone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52AA4CB9-61F8-47E6-A77C-944FAB674396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כותרת 1"/>
          <p:cNvSpPr>
            <a:spLocks noGrp="1"/>
          </p:cNvSpPr>
          <p:nvPr>
            <p:ph type="title"/>
          </p:nvPr>
        </p:nvSpPr>
        <p:spPr>
          <a:xfrm flipH="1">
            <a:off x="581192" y="702156"/>
            <a:ext cx="11029616" cy="1013800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אנכי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581192" y="2336002"/>
            <a:ext cx="11029616" cy="3652047"/>
          </a:xfrm>
        </p:spPr>
        <p:txBody>
          <a:bodyPr vert="eaVert" rtlCol="1"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40C56015-E054-4D95-8170-B193481CC082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en-US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>
            <a:spLocks noChangeAspect="1"/>
          </p:cNvSpPr>
          <p:nvPr/>
        </p:nvSpPr>
        <p:spPr>
          <a:xfrm flipH="1">
            <a:off x="446533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/>
          </a:p>
        </p:txBody>
      </p:sp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 rot="10800000" flipH="1">
            <a:off x="863600" y="863600"/>
            <a:ext cx="3124200" cy="4807326"/>
          </a:xfrm>
        </p:spPr>
        <p:txBody>
          <a:bodyPr vert="eaVert" rtlCol="1" anchor="ctr"/>
          <a:lstStyle>
            <a:lvl1pPr algn="r" rtl="1">
              <a:defRPr>
                <a:solidFill>
                  <a:srgbClr val="FFFFFF"/>
                </a:solidFill>
              </a:defRPr>
            </a:lvl1pPr>
          </a:lstStyle>
          <a:p>
            <a:pPr rtl="1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אנכי 2"/>
          <p:cNvSpPr>
            <a:spLocks noGrp="1"/>
          </p:cNvSpPr>
          <p:nvPr>
            <p:ph type="body" orient="vert" idx="1"/>
          </p:nvPr>
        </p:nvSpPr>
        <p:spPr>
          <a:xfrm rot="10800000" flipH="1">
            <a:off x="4255452" y="863600"/>
            <a:ext cx="7161625" cy="4807326"/>
          </a:xfrm>
        </p:spPr>
        <p:txBody>
          <a:bodyPr vert="eaVert" rtlCol="1"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he-IL"/>
              <a:t>לחץ כדי לערוך סגנונות טקסט של תבנית בסיס</a:t>
            </a:r>
          </a:p>
          <a:p>
            <a:pPr lvl="1" rtl="1"/>
            <a:r>
              <a:rPr lang="he-IL"/>
              <a:t>רמה שנייה</a:t>
            </a:r>
          </a:p>
          <a:p>
            <a:pPr lvl="2" rtl="1"/>
            <a:r>
              <a:rPr lang="he-IL"/>
              <a:t>רמה שלישית</a:t>
            </a:r>
          </a:p>
          <a:p>
            <a:pPr lvl="3" rtl="1"/>
            <a:r>
              <a:rPr lang="he-IL"/>
              <a:t>רמה רביעית</a:t>
            </a:r>
          </a:p>
          <a:p>
            <a:pPr lvl="4" rtl="1"/>
            <a:r>
              <a:rPr lang="he-IL"/>
              <a:t>רמה חמישית</a:t>
            </a:r>
            <a:endParaRPr lang="en-US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 flipH="1">
            <a:off x="8042146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 flipH="1">
            <a:off x="446533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 flipH="1">
            <a:off x="424685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/>
          <a:lstStyle/>
          <a:p>
            <a:pPr algn="r" rtl="1"/>
            <a:endParaRPr lang="en-US"/>
          </a:p>
        </p:txBody>
      </p:sp>
      <p:sp>
        <p:nvSpPr>
          <p:cNvPr id="11" name="מציין מיקום של תאריך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1741250" y="6423914"/>
            <a:ext cx="2844799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F85813DB-1B81-426D-B405-949168BA8A3F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12" name="מציין מיקום של כותרת תחתונה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4693598" y="6423914"/>
            <a:ext cx="69172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endParaRPr lang="en-US" dirty="0"/>
          </a:p>
        </p:txBody>
      </p:sp>
      <p:sp>
        <p:nvSpPr>
          <p:cNvPr id="13" name="מציין מיקום של מספר שקופית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581190" y="6423914"/>
            <a:ext cx="1052510" cy="36512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 flipH="1"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rtl="1"/>
            <a:r>
              <a:rPr lang="he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 flipH="1"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pPr lvl="0" rtl="1"/>
            <a:r>
              <a:rPr lang="he"/>
              <a:t>לחץ כדי לערוך סגנונות טקסט של תבנית בסיס</a:t>
            </a:r>
          </a:p>
          <a:p>
            <a:pPr lvl="1" rtl="1"/>
            <a:r>
              <a:rPr lang="he"/>
              <a:t>רמה שניה</a:t>
            </a:r>
          </a:p>
          <a:p>
            <a:pPr lvl="2" rtl="1"/>
            <a:r>
              <a:rPr lang="he"/>
              <a:t>רמה שלישית</a:t>
            </a:r>
          </a:p>
          <a:p>
            <a:pPr lvl="3" rtl="1"/>
            <a:r>
              <a:rPr lang="he"/>
              <a:t>רמה רביעית</a:t>
            </a:r>
          </a:p>
          <a:p>
            <a:pPr lvl="4" rtl="1"/>
            <a:r>
              <a:rPr lang="he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 flipH="1">
            <a:off x="1741250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444592A7-FF93-48C3-B593-E91B1E7DAF1E}" type="datetime1">
              <a:rPr lang="he-IL" smtClean="0"/>
              <a:t>י"ז/אדר ב/תשפ"ד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 flipH="1">
            <a:off x="4693598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 flipH="1">
            <a:off x="58119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מלבן 8"/>
          <p:cNvSpPr/>
          <p:nvPr/>
        </p:nvSpPr>
        <p:spPr>
          <a:xfrm flipH="1">
            <a:off x="8042146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מלבן 9"/>
          <p:cNvSpPr/>
          <p:nvPr/>
        </p:nvSpPr>
        <p:spPr>
          <a:xfrm flipH="1">
            <a:off x="446533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מלבן 10"/>
          <p:cNvSpPr/>
          <p:nvPr/>
        </p:nvSpPr>
        <p:spPr>
          <a:xfrm flipH="1">
            <a:off x="424685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r" defTabSz="457200" rtl="1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algn="r" rtl="1" eaLnBrk="1" hangingPunct="1">
        <a:defRPr>
          <a:solidFill>
            <a:schemeClr val="tx2"/>
          </a:solidFill>
        </a:defRPr>
      </a:lvl2pPr>
      <a:lvl3pPr algn="r" rtl="1" eaLnBrk="1" hangingPunct="1">
        <a:defRPr>
          <a:solidFill>
            <a:schemeClr val="tx2"/>
          </a:solidFill>
        </a:defRPr>
      </a:lvl3pPr>
      <a:lvl4pPr algn="r" rtl="1" eaLnBrk="1" hangingPunct="1">
        <a:defRPr>
          <a:solidFill>
            <a:schemeClr val="tx2"/>
          </a:solidFill>
        </a:defRPr>
      </a:lvl4pPr>
      <a:lvl5pPr algn="r" rtl="1" eaLnBrk="1" hangingPunct="1">
        <a:defRPr>
          <a:solidFill>
            <a:schemeClr val="tx2"/>
          </a:solidFill>
        </a:defRPr>
      </a:lvl5pPr>
      <a:lvl6pPr algn="r" rtl="1" eaLnBrk="1" hangingPunct="1">
        <a:defRPr>
          <a:solidFill>
            <a:schemeClr val="tx2"/>
          </a:solidFill>
        </a:defRPr>
      </a:lvl6pPr>
      <a:lvl7pPr algn="r" rtl="1" eaLnBrk="1" hangingPunct="1">
        <a:defRPr>
          <a:solidFill>
            <a:schemeClr val="tx2"/>
          </a:solidFill>
        </a:defRPr>
      </a:lvl7pPr>
      <a:lvl8pPr algn="r" rtl="1" eaLnBrk="1" hangingPunct="1">
        <a:defRPr>
          <a:solidFill>
            <a:schemeClr val="tx2"/>
          </a:solidFill>
        </a:defRPr>
      </a:lvl8pPr>
      <a:lvl9pPr algn="r" rtl="1" eaLnBrk="1" hangingPunct="1">
        <a:defRPr>
          <a:solidFill>
            <a:schemeClr val="tx2"/>
          </a:solidFill>
        </a:defRPr>
      </a:lvl9pPr>
    </p:titleStyle>
    <p:bodyStyle>
      <a:lvl1pPr marL="306000" indent="-306000" algn="r" defTabSz="457200" rtl="1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30000" indent="-3060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900000" indent="-2700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42000" indent="-2340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602000" indent="-2340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9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492994"/>
            <a:ext cx="11029616" cy="56673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1" anchor="b">
            <a:noAutofit/>
          </a:bodyPr>
          <a:lstStyle/>
          <a:p>
            <a:pPr rtl="1"/>
            <a:r>
              <a:rPr lang="he-IL" sz="3600" b="1" dirty="0"/>
              <a:t>עיצוב תרופות ממוחשב – פרויקט 6</a:t>
            </a:r>
            <a:endParaRPr lang="he" sz="3600" b="1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CCFDCBD-5938-CC4B-D06B-59B20D3644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219" r="-1" b="14290"/>
          <a:stretch/>
        </p:blipFill>
        <p:spPr>
          <a:xfrm>
            <a:off x="453324" y="641350"/>
            <a:ext cx="11290859" cy="3651249"/>
          </a:xfrm>
          <a:prstGeom prst="rect">
            <a:avLst/>
          </a:prstGeom>
          <a:noFill/>
        </p:spPr>
      </p:pic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9216" y="5145821"/>
            <a:ext cx="4351592" cy="1691179"/>
          </a:xfrm>
        </p:spPr>
        <p:txBody>
          <a:bodyPr rtlCol="1" anchor="t">
            <a:normAutofit lnSpcReduction="10000"/>
          </a:bodyPr>
          <a:lstStyle/>
          <a:p>
            <a:pPr rtl="1"/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מגישים: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אופיר כץ – ת"ז: 206373466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שרון מלאנקר – ת"ז: 313116576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עדי </a:t>
            </a:r>
            <a:r>
              <a:rPr lang="he-IL" sz="2000" dirty="0" err="1">
                <a:solidFill>
                  <a:schemeClr val="accent2">
                    <a:lumMod val="75000"/>
                  </a:schemeClr>
                </a:solidFill>
              </a:rPr>
              <a:t>פינקלמן</a:t>
            </a: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 – ת"ז: 207860867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endParaRPr lang="h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2B895056-6267-F752-A884-E00C859FC1FB}"/>
              </a:ext>
            </a:extLst>
          </p:cNvPr>
          <p:cNvSpPr txBox="1">
            <a:spLocks/>
          </p:cNvSpPr>
          <p:nvPr/>
        </p:nvSpPr>
        <p:spPr>
          <a:xfrm>
            <a:off x="3371460" y="5260127"/>
            <a:ext cx="4351592" cy="1271302"/>
          </a:xfrm>
          <a:prstGeom prst="rect">
            <a:avLst/>
          </a:prstGeom>
        </p:spPr>
        <p:txBody>
          <a:bodyPr vert="horz" lIns="91440" tIns="45720" rIns="91440" bIns="45720" rtlCol="1" anchor="t">
            <a:normAutofit fontScale="92500" lnSpcReduction="10000"/>
          </a:bodyPr>
          <a:lstStyle>
            <a:lvl1pPr marL="0" indent="0" algn="r" defTabSz="457200" rtl="1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3716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8288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860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מאיה פרץ – ת"ז: 206433088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אסנת משה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– </a:t>
            </a: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ת"ז: 209485648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עדן </a:t>
            </a:r>
            <a:r>
              <a:rPr lang="he-IL" sz="2000" dirty="0" err="1">
                <a:solidFill>
                  <a:schemeClr val="accent2">
                    <a:lumMod val="75000"/>
                  </a:schemeClr>
                </a:solidFill>
              </a:rPr>
              <a:t>מיירוב</a:t>
            </a: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 – ת"ז: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207811589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רון </a:t>
            </a:r>
            <a:r>
              <a:rPr lang="he-IL" sz="2000" dirty="0" err="1">
                <a:solidFill>
                  <a:schemeClr val="accent2">
                    <a:lumMod val="75000"/>
                  </a:schemeClr>
                </a:solidFill>
              </a:rPr>
              <a:t>סוקנר</a:t>
            </a:r>
            <a:r>
              <a:rPr lang="he-IL" sz="2000" dirty="0">
                <a:solidFill>
                  <a:schemeClr val="accent2">
                    <a:lumMod val="75000"/>
                  </a:schemeClr>
                </a:solidFill>
              </a:rPr>
              <a:t> – ת"ז: 319071858</a:t>
            </a:r>
            <a:endParaRPr lang="he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9271-7EDF-216E-30ED-1C9E8DBC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539D9B-A290-8EE0-90E3-6C942648C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77134" y="312797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1">
            <a:normAutofit/>
          </a:bodyPr>
          <a:lstStyle/>
          <a:p>
            <a:pPr algn="ctr" rtl="1"/>
            <a:r>
              <a:rPr lang="he-IL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תוכן עניינים</a:t>
            </a:r>
            <a:endParaRPr lang="he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2B87B7C8-7B9C-B03C-EBFC-91E65191254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473038" y="1866810"/>
            <a:ext cx="11137769" cy="23769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1800" dirty="0"/>
              <a:t>רקע כללי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1800" dirty="0"/>
              <a:t>תרשים זרימה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1800" dirty="0"/>
              <a:t>מאמר בנושא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1800" dirty="0"/>
              <a:t>אלגוריתם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1800" dirty="0"/>
              <a:t>תוצאות</a:t>
            </a:r>
          </a:p>
          <a:p>
            <a:endParaRPr lang="he-IL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5D5F43A-C6A6-5226-514E-1BF3E10E6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" t="34267" r="697" b="28188"/>
          <a:stretch/>
        </p:blipFill>
        <p:spPr>
          <a:xfrm>
            <a:off x="0" y="4288608"/>
            <a:ext cx="12192000" cy="25920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340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תמונה 13">
            <a:extLst>
              <a:ext uri="{FF2B5EF4-FFF2-40B4-BE49-F238E27FC236}">
                <a16:creationId xmlns:a16="http://schemas.microsoft.com/office/drawing/2014/main" id="{0D630B9D-5B1A-45D9-407A-8C71374A6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" t="34267" r="697" b="28188"/>
          <a:stretch/>
        </p:blipFill>
        <p:spPr>
          <a:xfrm>
            <a:off x="0" y="4745807"/>
            <a:ext cx="12192000" cy="2592011"/>
          </a:xfrm>
          <a:prstGeom prst="rect">
            <a:avLst/>
          </a:prstGeom>
          <a:noFill/>
        </p:spPr>
      </p:pic>
      <p:sp>
        <p:nvSpPr>
          <p:cNvPr id="4" name="כותרת 1">
            <a:extLst>
              <a:ext uri="{FF2B5EF4-FFF2-40B4-BE49-F238E27FC236}">
                <a16:creationId xmlns:a16="http://schemas.microsoft.com/office/drawing/2014/main" id="{C31DFDC6-5B55-CE02-04B2-E42D78F4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74026" y="147082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1">
            <a:normAutofit/>
          </a:bodyPr>
          <a:lstStyle/>
          <a:p>
            <a:pPr algn="ctr" rtl="1"/>
            <a:r>
              <a:rPr lang="he-IL" sz="3600" dirty="0"/>
              <a:t>המטלה</a:t>
            </a:r>
            <a:endParaRPr lang="he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3862C4A5-BC69-43A8-0448-2F24BEAD3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3" y="1691885"/>
            <a:ext cx="7171041" cy="2255715"/>
          </a:xfrm>
          <a:prstGeom prst="rect">
            <a:avLst/>
          </a:prstGeom>
        </p:spPr>
      </p:pic>
      <p:sp>
        <p:nvSpPr>
          <p:cNvPr id="7" name="אליפסה 6">
            <a:extLst>
              <a:ext uri="{FF2B5EF4-FFF2-40B4-BE49-F238E27FC236}">
                <a16:creationId xmlns:a16="http://schemas.microsoft.com/office/drawing/2014/main" id="{B3E35404-487F-6A0F-F031-2DF57E029B3B}"/>
              </a:ext>
            </a:extLst>
          </p:cNvPr>
          <p:cNvSpPr/>
          <p:nvPr/>
        </p:nvSpPr>
        <p:spPr>
          <a:xfrm>
            <a:off x="8719623" y="1691884"/>
            <a:ext cx="2313992" cy="2255715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דיו 10">
                <a:extLst>
                  <a:ext uri="{FF2B5EF4-FFF2-40B4-BE49-F238E27FC236}">
                    <a16:creationId xmlns:a16="http://schemas.microsoft.com/office/drawing/2014/main" id="{8C7249AC-0FF3-D07E-AE76-94FE3E987E5D}"/>
                  </a:ext>
                </a:extLst>
              </p14:cNvPr>
              <p14:cNvContentPartPr/>
              <p14:nvPr/>
            </p14:nvContentPartPr>
            <p14:xfrm>
              <a:off x="9493832" y="2731489"/>
              <a:ext cx="321480" cy="321480"/>
            </p14:xfrm>
          </p:contentPart>
        </mc:Choice>
        <mc:Fallback xmlns="">
          <p:pic>
            <p:nvPicPr>
              <p:cNvPr id="11" name="דיו 10">
                <a:extLst>
                  <a:ext uri="{FF2B5EF4-FFF2-40B4-BE49-F238E27FC236}">
                    <a16:creationId xmlns:a16="http://schemas.microsoft.com/office/drawing/2014/main" id="{8C7249AC-0FF3-D07E-AE76-94FE3E987E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87712" y="2725369"/>
                <a:ext cx="333720" cy="3337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תרשים זרימה: מחבר 15">
            <a:extLst>
              <a:ext uri="{FF2B5EF4-FFF2-40B4-BE49-F238E27FC236}">
                <a16:creationId xmlns:a16="http://schemas.microsoft.com/office/drawing/2014/main" id="{EA4D3170-CE6C-6211-9187-FB24FBC404B7}"/>
              </a:ext>
            </a:extLst>
          </p:cNvPr>
          <p:cNvSpPr/>
          <p:nvPr/>
        </p:nvSpPr>
        <p:spPr>
          <a:xfrm>
            <a:off x="9349273" y="2596224"/>
            <a:ext cx="166503" cy="17689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תרשים זרימה: מחבר 18">
            <a:extLst>
              <a:ext uri="{FF2B5EF4-FFF2-40B4-BE49-F238E27FC236}">
                <a16:creationId xmlns:a16="http://schemas.microsoft.com/office/drawing/2014/main" id="{8EFA0CD2-BB5A-D17E-0230-E71926B3D715}"/>
              </a:ext>
            </a:extLst>
          </p:cNvPr>
          <p:cNvSpPr/>
          <p:nvPr/>
        </p:nvSpPr>
        <p:spPr>
          <a:xfrm>
            <a:off x="9793368" y="3011338"/>
            <a:ext cx="166503" cy="17689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68E4ADEA-63CE-6EA9-40E8-2DBFE15FFF9E}"/>
                  </a:ext>
                </a:extLst>
              </p:cNvPr>
              <p:cNvSpPr txBox="1"/>
              <p:nvPr/>
            </p:nvSpPr>
            <p:spPr>
              <a:xfrm>
                <a:off x="8767931" y="2288882"/>
                <a:ext cx="145180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ⅇ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תיבת טקסט 19">
                <a:extLst>
                  <a:ext uri="{FF2B5EF4-FFF2-40B4-BE49-F238E27FC236}">
                    <a16:creationId xmlns:a16="http://schemas.microsoft.com/office/drawing/2014/main" id="{68E4ADEA-63CE-6EA9-40E8-2DBFE15FF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931" y="2288882"/>
                <a:ext cx="14518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4E359F06-8190-D87E-25F6-9A29A732477E}"/>
                  </a:ext>
                </a:extLst>
              </p:cNvPr>
              <p:cNvSpPr txBox="1"/>
              <p:nvPr/>
            </p:nvSpPr>
            <p:spPr>
              <a:xfrm>
                <a:off x="9425561" y="2878040"/>
                <a:ext cx="145180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ⅇ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4E359F06-8190-D87E-25F6-9A29A7324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561" y="2878040"/>
                <a:ext cx="145180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88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1031-FB79-4C1E-2E1A-4B65D729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AB4871-E2CA-3D37-B2D2-9C8A6FF6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61640" y="-1844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1">
            <a:normAutofit/>
          </a:bodyPr>
          <a:lstStyle/>
          <a:p>
            <a:pPr algn="ctr" rtl="1"/>
            <a:r>
              <a:rPr lang="he-IL" sz="3200" dirty="0"/>
              <a:t>הקדמה</a:t>
            </a:r>
            <a:endParaRPr lang="he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560AB7C-0DD7-342D-349E-850CFC39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76" y="1278595"/>
            <a:ext cx="8218189" cy="5383461"/>
          </a:xfrm>
          <a:prstGeom prst="rect">
            <a:avLst/>
          </a:prstGeom>
        </p:spPr>
      </p:pic>
      <p:sp>
        <p:nvSpPr>
          <p:cNvPr id="8" name="אליפסה 7">
            <a:extLst>
              <a:ext uri="{FF2B5EF4-FFF2-40B4-BE49-F238E27FC236}">
                <a16:creationId xmlns:a16="http://schemas.microsoft.com/office/drawing/2014/main" id="{7FA811F7-8CB2-F9A9-822F-CF7211A30929}"/>
              </a:ext>
            </a:extLst>
          </p:cNvPr>
          <p:cNvSpPr/>
          <p:nvPr/>
        </p:nvSpPr>
        <p:spPr>
          <a:xfrm>
            <a:off x="6774023" y="5528108"/>
            <a:ext cx="1250303" cy="447869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B37967C5-FA56-0CF0-B70C-0D5B2B77BF19}"/>
              </a:ext>
            </a:extLst>
          </p:cNvPr>
          <p:cNvCxnSpPr>
            <a:cxnSpLocks/>
          </p:cNvCxnSpPr>
          <p:nvPr/>
        </p:nvCxnSpPr>
        <p:spPr>
          <a:xfrm flipH="1">
            <a:off x="8052317" y="5210867"/>
            <a:ext cx="531845" cy="447869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91330B77-3DA1-9082-F61C-A3615A7CBB8D}"/>
              </a:ext>
            </a:extLst>
          </p:cNvPr>
          <p:cNvSpPr/>
          <p:nvPr/>
        </p:nvSpPr>
        <p:spPr>
          <a:xfrm>
            <a:off x="8686799" y="4683968"/>
            <a:ext cx="1446245" cy="447869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מה שאנחנו מחשבים</a:t>
            </a:r>
          </a:p>
        </p:txBody>
      </p:sp>
    </p:spTree>
    <p:extLst>
      <p:ext uri="{BB962C8B-B14F-4D97-AF65-F5344CB8AC3E}">
        <p14:creationId xmlns:p14="http://schemas.microsoft.com/office/powerpoint/2010/main" val="354461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תמונה 13">
            <a:extLst>
              <a:ext uri="{FF2B5EF4-FFF2-40B4-BE49-F238E27FC236}">
                <a16:creationId xmlns:a16="http://schemas.microsoft.com/office/drawing/2014/main" id="{0D630B9D-5B1A-45D9-407A-8C71374A6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" t="34267" r="697" b="28188"/>
          <a:stretch/>
        </p:blipFill>
        <p:spPr>
          <a:xfrm>
            <a:off x="0" y="4745807"/>
            <a:ext cx="12192000" cy="2592011"/>
          </a:xfrm>
          <a:prstGeom prst="rect">
            <a:avLst/>
          </a:prstGeom>
          <a:noFill/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900A7A0-C1AA-5FE8-510D-4228F812BC5B}"/>
              </a:ext>
            </a:extLst>
          </p:cNvPr>
          <p:cNvSpPr txBox="1"/>
          <p:nvPr/>
        </p:nvSpPr>
        <p:spPr>
          <a:xfrm>
            <a:off x="3523187" y="1134781"/>
            <a:ext cx="7058608" cy="66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המטרה שלנו היא לחשב את הרכיב האלקטרוסטטי של אנרגיית ההמסה החופשית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מלבן 12">
                <a:extLst>
                  <a:ext uri="{FF2B5EF4-FFF2-40B4-BE49-F238E27FC236}">
                    <a16:creationId xmlns:a16="http://schemas.microsoft.com/office/drawing/2014/main" id="{9C1588E1-DF81-5DC3-2FE2-505A80FAC4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99389" y="2112192"/>
                <a:ext cx="8378890" cy="2161227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𝑝𝑜𝑙</m:t>
                          </m:r>
                        </m:sup>
                      </m:sSup>
                      <m:r>
                        <a:rPr lang="he-IL" sz="24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e-IL" sz="24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e-IL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2400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den>
                          </m:f>
                          <m:r>
                            <a:rPr lang="he-IL" sz="24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he-IL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2400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he-IL" sz="24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e-IL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he-IL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he-IL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he-IL" sz="24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he-IL" sz="2400" i="0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he-IL" sz="2400" i="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func>
                                        <m:funcPr>
                                          <m:ctrlPr>
                                            <a:rPr lang="he-IL" sz="2400" i="1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2400" i="0" dirty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exp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he-IL" sz="2400" i="1" dirty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he-IL" sz="2400" i="0" dirty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he-IL" sz="2400" i="1" dirty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Sup>
                                                    <m:sSubSupPr>
                                                      <m:ctrlP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𝑖𝑗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he-IL" sz="2400" i="0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bSup>
                                                </m:num>
                                                <m:den>
                                                  <m:r>
                                                    <a:rPr lang="he-IL" sz="2400" i="1" dirty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he-IL" sz="2400" i="1" dirty="0">
                                                          <a:solidFill>
                                                            <a:schemeClr val="bg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he-IL" sz="2400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he-IL" sz="2400" i="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he-IL" sz="2400" i="0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he-IL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מלבן 12">
                <a:extLst>
                  <a:ext uri="{FF2B5EF4-FFF2-40B4-BE49-F238E27FC236}">
                    <a16:creationId xmlns:a16="http://schemas.microsoft.com/office/drawing/2014/main" id="{9C1588E1-DF81-5DC3-2FE2-505A80FAC4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89" y="2112192"/>
                <a:ext cx="8378890" cy="21612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0DA8E5-19FA-C4C0-7BC4-CB36FD38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1" y="61696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he-IL" sz="3600" dirty="0"/>
              <a:t>תרשים זרימה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6EB566C3-FC21-C22A-C7E4-E4BD5B8F438A}"/>
                  </a:ext>
                </a:extLst>
              </p:cNvPr>
              <p:cNvSpPr/>
              <p:nvPr/>
            </p:nvSpPr>
            <p:spPr>
              <a:xfrm>
                <a:off x="3892420" y="2419896"/>
                <a:ext cx="4508974" cy="54117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dirty="0">
                    <a:solidFill>
                      <a:schemeClr val="tx1"/>
                    </a:solidFill>
                  </a:rPr>
                  <a:t>חישוב אינטגרל משטחי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על ספירה לכל מטען עבור </a:t>
                </a:r>
                <a14:m>
                  <m:oMath xmlns:m="http://schemas.openxmlformats.org/officeDocument/2006/math"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he-IL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he-IL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6EB566C3-FC21-C22A-C7E4-E4BD5B8F43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420" y="2419896"/>
                <a:ext cx="4508974" cy="541176"/>
              </a:xfrm>
              <a:prstGeom prst="rect">
                <a:avLst/>
              </a:prstGeom>
              <a:blipFill>
                <a:blip r:embed="rId2"/>
                <a:stretch>
                  <a:fillRect t="-12903" b="-23656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לבן 5">
                <a:extLst>
                  <a:ext uri="{FF2B5EF4-FFF2-40B4-BE49-F238E27FC236}">
                    <a16:creationId xmlns:a16="http://schemas.microsoft.com/office/drawing/2014/main" id="{59C72498-F9D6-44F4-2571-7C0774311BB4}"/>
                  </a:ext>
                </a:extLst>
              </p:cNvPr>
              <p:cNvSpPr/>
              <p:nvPr/>
            </p:nvSpPr>
            <p:spPr>
              <a:xfrm>
                <a:off x="4220544" y="3362158"/>
                <a:ext cx="3831777" cy="54117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dirty="0">
                    <a:solidFill>
                      <a:schemeClr val="tx1"/>
                    </a:solidFill>
                  </a:rPr>
                  <a:t>חישוב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he-IL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𝑠𝑒𝑙𝑓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 (אנרגיה עצמית) לכל מטען</a:t>
                </a:r>
              </a:p>
            </p:txBody>
          </p:sp>
        </mc:Choice>
        <mc:Fallback xmlns="">
          <p:sp>
            <p:nvSpPr>
              <p:cNvPr id="6" name="מלבן 5">
                <a:extLst>
                  <a:ext uri="{FF2B5EF4-FFF2-40B4-BE49-F238E27FC236}">
                    <a16:creationId xmlns:a16="http://schemas.microsoft.com/office/drawing/2014/main" id="{59C72498-F9D6-44F4-2571-7C0774311B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544" y="3362158"/>
                <a:ext cx="3831777" cy="541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לבן 7">
                <a:extLst>
                  <a:ext uri="{FF2B5EF4-FFF2-40B4-BE49-F238E27FC236}">
                    <a16:creationId xmlns:a16="http://schemas.microsoft.com/office/drawing/2014/main" id="{6DB7071F-D898-1C3F-6220-94004E628C0A}"/>
                  </a:ext>
                </a:extLst>
              </p:cNvPr>
              <p:cNvSpPr/>
              <p:nvPr/>
            </p:nvSpPr>
            <p:spPr>
              <a:xfrm>
                <a:off x="4597696" y="4195875"/>
                <a:ext cx="3010672" cy="54117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dirty="0">
                    <a:solidFill>
                      <a:schemeClr val="tx1"/>
                    </a:solidFill>
                  </a:rPr>
                  <a:t>חישוב רדיוס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e-IL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he-IL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לכל מטען</a:t>
                </a:r>
              </a:p>
            </p:txBody>
          </p:sp>
        </mc:Choice>
        <mc:Fallback xmlns="">
          <p:sp>
            <p:nvSpPr>
              <p:cNvPr id="8" name="מלבן 7">
                <a:extLst>
                  <a:ext uri="{FF2B5EF4-FFF2-40B4-BE49-F238E27FC236}">
                    <a16:creationId xmlns:a16="http://schemas.microsoft.com/office/drawing/2014/main" id="{6DB7071F-D898-1C3F-6220-94004E628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696" y="4195875"/>
                <a:ext cx="3010672" cy="541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מלבן 8">
                <a:extLst>
                  <a:ext uri="{FF2B5EF4-FFF2-40B4-BE49-F238E27FC236}">
                    <a16:creationId xmlns:a16="http://schemas.microsoft.com/office/drawing/2014/main" id="{DD2FC8C6-F952-41E7-BE44-C9C99151C142}"/>
                  </a:ext>
                </a:extLst>
              </p:cNvPr>
              <p:cNvSpPr/>
              <p:nvPr/>
            </p:nvSpPr>
            <p:spPr>
              <a:xfrm>
                <a:off x="4641570" y="5137234"/>
                <a:ext cx="2989724" cy="48957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dirty="0">
                    <a:solidFill>
                      <a:schemeClr val="tx1"/>
                    </a:solidFill>
                  </a:rPr>
                  <a:t>חישוב האנרגיה החשמלית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𝑝𝑜𝑙</m:t>
                        </m:r>
                      </m:sub>
                    </m:sSub>
                  </m:oMath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מלבן 8">
                <a:extLst>
                  <a:ext uri="{FF2B5EF4-FFF2-40B4-BE49-F238E27FC236}">
                    <a16:creationId xmlns:a16="http://schemas.microsoft.com/office/drawing/2014/main" id="{DD2FC8C6-F952-41E7-BE44-C9C99151C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570" y="5137234"/>
                <a:ext cx="2989724" cy="489577"/>
              </a:xfrm>
              <a:prstGeom prst="rect">
                <a:avLst/>
              </a:prstGeom>
              <a:blipFill>
                <a:blip r:embed="rId5"/>
                <a:stretch>
                  <a:fillRect r="-606" b="-2381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2535E520-B4B1-B88D-A576-AA211F363087}"/>
              </a:ext>
            </a:extLst>
          </p:cNvPr>
          <p:cNvCxnSpPr>
            <a:cxnSpLocks/>
          </p:cNvCxnSpPr>
          <p:nvPr/>
        </p:nvCxnSpPr>
        <p:spPr>
          <a:xfrm>
            <a:off x="6103032" y="2961072"/>
            <a:ext cx="0" cy="489577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C08835C5-1F7B-534B-A865-24DE9CE28F75}"/>
              </a:ext>
            </a:extLst>
          </p:cNvPr>
          <p:cNvCxnSpPr>
            <a:cxnSpLocks/>
          </p:cNvCxnSpPr>
          <p:nvPr/>
        </p:nvCxnSpPr>
        <p:spPr>
          <a:xfrm>
            <a:off x="6103032" y="3819358"/>
            <a:ext cx="0" cy="489577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E5A3EFC5-7B8F-71FA-8996-E5761B1869FA}"/>
              </a:ext>
            </a:extLst>
          </p:cNvPr>
          <p:cNvCxnSpPr>
            <a:cxnSpLocks/>
          </p:cNvCxnSpPr>
          <p:nvPr/>
        </p:nvCxnSpPr>
        <p:spPr>
          <a:xfrm>
            <a:off x="6103032" y="4737051"/>
            <a:ext cx="0" cy="489577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1D5D682B-2139-8A27-4C90-E935163AD0B5}"/>
              </a:ext>
            </a:extLst>
          </p:cNvPr>
          <p:cNvSpPr/>
          <p:nvPr/>
        </p:nvSpPr>
        <p:spPr>
          <a:xfrm>
            <a:off x="3119535" y="6026994"/>
            <a:ext cx="5952931" cy="5411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>
                    <a:lumMod val="95000"/>
                    <a:lumOff val="5000"/>
                  </a:schemeClr>
                </a:solidFill>
              </a:rPr>
              <a:t>פלט – ככל שהאנרגיה יותר קטנה כך החיבור יותר טוב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מלבן 16">
                <a:extLst>
                  <a:ext uri="{FF2B5EF4-FFF2-40B4-BE49-F238E27FC236}">
                    <a16:creationId xmlns:a16="http://schemas.microsoft.com/office/drawing/2014/main" id="{79F3A306-3583-79D4-7CD0-1D8DF617DAD1}"/>
                  </a:ext>
                </a:extLst>
              </p:cNvPr>
              <p:cNvSpPr/>
              <p:nvPr/>
            </p:nvSpPr>
            <p:spPr>
              <a:xfrm>
                <a:off x="4451231" y="1238498"/>
                <a:ext cx="3258556" cy="72871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sz="1600" dirty="0">
                    <a:solidFill>
                      <a:schemeClr val="tx1"/>
                    </a:solidFill>
                  </a:rPr>
                  <a:t>קבלת קלטים, שני מטענים 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he-IL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1600" dirty="0">
                    <a:solidFill>
                      <a:schemeClr val="tx1"/>
                    </a:solidFill>
                  </a:rPr>
                  <a:t>,</a:t>
                </a:r>
              </a:p>
              <a:p>
                <a:pPr algn="ctr"/>
                <a:r>
                  <a:rPr lang="he-IL" sz="1600" dirty="0">
                    <a:solidFill>
                      <a:schemeClr val="tx1"/>
                    </a:solidFill>
                  </a:rPr>
                  <a:t>רדיוס של הספירה, מיקום המטענים</a:t>
                </a:r>
              </a:p>
            </p:txBody>
          </p:sp>
        </mc:Choice>
        <mc:Fallback xmlns="">
          <p:sp>
            <p:nvSpPr>
              <p:cNvPr id="17" name="מלבן 16">
                <a:extLst>
                  <a:ext uri="{FF2B5EF4-FFF2-40B4-BE49-F238E27FC236}">
                    <a16:creationId xmlns:a16="http://schemas.microsoft.com/office/drawing/2014/main" id="{79F3A306-3583-79D4-7CD0-1D8DF617D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31" y="1238498"/>
                <a:ext cx="3258556" cy="7287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3E8CBAB0-409C-5B0C-93E1-C3226168986F}"/>
              </a:ext>
            </a:extLst>
          </p:cNvPr>
          <p:cNvCxnSpPr>
            <a:cxnSpLocks/>
          </p:cNvCxnSpPr>
          <p:nvPr/>
        </p:nvCxnSpPr>
        <p:spPr>
          <a:xfrm>
            <a:off x="6078141" y="1967211"/>
            <a:ext cx="0" cy="489577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1243A42F-C96E-388C-7DD8-309F14E39FFF}"/>
              </a:ext>
            </a:extLst>
          </p:cNvPr>
          <p:cNvCxnSpPr>
            <a:cxnSpLocks/>
          </p:cNvCxnSpPr>
          <p:nvPr/>
        </p:nvCxnSpPr>
        <p:spPr>
          <a:xfrm>
            <a:off x="6120034" y="5626811"/>
            <a:ext cx="0" cy="489577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2644FAFC-6E5F-5365-948A-C64FDB174311}"/>
              </a:ext>
            </a:extLst>
          </p:cNvPr>
          <p:cNvCxnSpPr>
            <a:cxnSpLocks/>
          </p:cNvCxnSpPr>
          <p:nvPr/>
        </p:nvCxnSpPr>
        <p:spPr>
          <a:xfrm>
            <a:off x="8462010" y="2620353"/>
            <a:ext cx="308610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מלבן 23">
                <a:extLst>
                  <a:ext uri="{FF2B5EF4-FFF2-40B4-BE49-F238E27FC236}">
                    <a16:creationId xmlns:a16="http://schemas.microsoft.com/office/drawing/2014/main" id="{1EF590CC-90C6-F690-6323-71EAD60199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39160" y="1735497"/>
                <a:ext cx="3129357" cy="1278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supHide m:val="on"/>
                                  <m:ctrlPr>
                                    <a:rPr lang="he-I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he-I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he-IL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מלבן 23">
                <a:extLst>
                  <a:ext uri="{FF2B5EF4-FFF2-40B4-BE49-F238E27FC236}">
                    <a16:creationId xmlns:a16="http://schemas.microsoft.com/office/drawing/2014/main" id="{1EF590CC-90C6-F690-6323-71EAD6019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160" y="1735497"/>
                <a:ext cx="3129357" cy="1278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80542DE6-6B45-F326-8AD3-C948D166B831}"/>
              </a:ext>
            </a:extLst>
          </p:cNvPr>
          <p:cNvCxnSpPr>
            <a:cxnSpLocks/>
          </p:cNvCxnSpPr>
          <p:nvPr/>
        </p:nvCxnSpPr>
        <p:spPr>
          <a:xfrm>
            <a:off x="3962400" y="3632746"/>
            <a:ext cx="198120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מלבן 25">
                <a:extLst>
                  <a:ext uri="{FF2B5EF4-FFF2-40B4-BE49-F238E27FC236}">
                    <a16:creationId xmlns:a16="http://schemas.microsoft.com/office/drawing/2014/main" id="{6EE1BD1E-51AD-2206-7F65-FE4C5877F0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3029" y="3225255"/>
                <a:ext cx="3661642" cy="9052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he-IL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e-IL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he-IL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he-IL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𝑠𝑒𝑙𝑓</m:t>
                          </m:r>
                        </m:sup>
                      </m:sSubSup>
                      <m:r>
                        <a:rPr lang="he-IL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he-IL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e-IL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den>
                          </m:f>
                          <m:r>
                            <a:rPr lang="he-IL" sz="16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he-IL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he-IL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he-IL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he-IL" sz="16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he-IL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he-IL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he-IL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he-IL" sz="16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he-IL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he-IL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מלבן 25">
                <a:extLst>
                  <a:ext uri="{FF2B5EF4-FFF2-40B4-BE49-F238E27FC236}">
                    <a16:creationId xmlns:a16="http://schemas.microsoft.com/office/drawing/2014/main" id="{6EE1BD1E-51AD-2206-7F65-FE4C5877F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29" y="3225255"/>
                <a:ext cx="3661642" cy="9052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מלבן 35">
                <a:extLst>
                  <a:ext uri="{FF2B5EF4-FFF2-40B4-BE49-F238E27FC236}">
                    <a16:creationId xmlns:a16="http://schemas.microsoft.com/office/drawing/2014/main" id="{C3D5F888-D3FD-417D-9581-347E61D817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87612" y="4123275"/>
                <a:ext cx="2677886" cy="9151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he-IL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den>
                          </m:f>
                          <m: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he-IL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f>
                        <m:fPr>
                          <m:ctrlPr>
                            <a:rPr lang="he-IL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he-IL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𝑠𝑒𝑙𝑓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he-IL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מלבן 35">
                <a:extLst>
                  <a:ext uri="{FF2B5EF4-FFF2-40B4-BE49-F238E27FC236}">
                    <a16:creationId xmlns:a16="http://schemas.microsoft.com/office/drawing/2014/main" id="{C3D5F888-D3FD-417D-9581-347E61D81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7612" y="4123275"/>
                <a:ext cx="2677886" cy="9151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מחבר ישר 36">
            <a:extLst>
              <a:ext uri="{FF2B5EF4-FFF2-40B4-BE49-F238E27FC236}">
                <a16:creationId xmlns:a16="http://schemas.microsoft.com/office/drawing/2014/main" id="{7299899F-57E3-89AF-CEB3-A6808CC0ABBF}"/>
              </a:ext>
            </a:extLst>
          </p:cNvPr>
          <p:cNvCxnSpPr>
            <a:cxnSpLocks/>
          </p:cNvCxnSpPr>
          <p:nvPr/>
        </p:nvCxnSpPr>
        <p:spPr>
          <a:xfrm>
            <a:off x="7678420" y="4466463"/>
            <a:ext cx="436880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מלבן 44">
                <a:extLst>
                  <a:ext uri="{FF2B5EF4-FFF2-40B4-BE49-F238E27FC236}">
                    <a16:creationId xmlns:a16="http://schemas.microsoft.com/office/drawing/2014/main" id="{F63A010A-69BD-4C3C-2DD1-447E1A9744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47" y="4563036"/>
                <a:ext cx="4148413" cy="13587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𝑝𝑜𝑙</m:t>
                          </m:r>
                        </m:sup>
                      </m:sSup>
                      <m:r>
                        <a:rPr lang="he-IL" sz="12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2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e-IL" sz="12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e-IL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den>
                          </m:f>
                          <m:r>
                            <a:rPr lang="he-IL" sz="12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he-IL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he-IL" sz="12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e-IL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he-IL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he-IL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he-IL" sz="12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he-IL" sz="1200" i="0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he-IL" sz="1200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func>
                                        <m:funcPr>
                                          <m:ctrlPr>
                                            <a:rPr lang="he-IL" sz="12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 i="0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exp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he-IL" sz="12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he-IL" sz="1200" i="0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he-IL" sz="12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Sup>
                                                    <m:sSubSupPr>
                                                      <m:ctrlP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𝑖𝑗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he-IL" sz="1200" i="0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</m:sup>
                                                  </m:sSubSup>
                                                </m:num>
                                                <m:den>
                                                  <m:r>
                                                    <a:rPr lang="he-IL" sz="12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he-IL" sz="1200" i="1" dirty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he-IL" sz="12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he-IL" sz="1200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he-IL" sz="1200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he-IL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מלבן 44">
                <a:extLst>
                  <a:ext uri="{FF2B5EF4-FFF2-40B4-BE49-F238E27FC236}">
                    <a16:creationId xmlns:a16="http://schemas.microsoft.com/office/drawing/2014/main" id="{F63A010A-69BD-4C3C-2DD1-447E1A974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7" y="4563036"/>
                <a:ext cx="4148413" cy="13587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מחבר ישר 45">
            <a:extLst>
              <a:ext uri="{FF2B5EF4-FFF2-40B4-BE49-F238E27FC236}">
                <a16:creationId xmlns:a16="http://schemas.microsoft.com/office/drawing/2014/main" id="{8202E7B1-53D2-CE5C-2C61-B298DF83A9F0}"/>
              </a:ext>
            </a:extLst>
          </p:cNvPr>
          <p:cNvCxnSpPr>
            <a:cxnSpLocks/>
          </p:cNvCxnSpPr>
          <p:nvPr/>
        </p:nvCxnSpPr>
        <p:spPr>
          <a:xfrm>
            <a:off x="4282440" y="5382022"/>
            <a:ext cx="285750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737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0DA8E5-19FA-C4C0-7BC4-CB36FD38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1" y="78948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he-IL" sz="3600" dirty="0"/>
              <a:t>חישוב האינטגרל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מלבן 23">
                <a:extLst>
                  <a:ext uri="{FF2B5EF4-FFF2-40B4-BE49-F238E27FC236}">
                    <a16:creationId xmlns:a16="http://schemas.microsoft.com/office/drawing/2014/main" id="{1EF590CC-90C6-F690-6323-71EAD60199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35833" y="1354833"/>
                <a:ext cx="3129357" cy="1278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e-I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supHide m:val="on"/>
                                  <m:ctrlPr>
                                    <a:rPr lang="he-I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he-IL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ctrlP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acc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he-IL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he-IL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he-IL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e-I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he-IL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מלבן 23">
                <a:extLst>
                  <a:ext uri="{FF2B5EF4-FFF2-40B4-BE49-F238E27FC236}">
                    <a16:creationId xmlns:a16="http://schemas.microsoft.com/office/drawing/2014/main" id="{1EF590CC-90C6-F690-6323-71EAD6019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833" y="1354833"/>
                <a:ext cx="3129357" cy="1278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4A6066BA-0D62-630C-51DE-46DAA1215E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17206" y="2767220"/>
                <a:ext cx="4157585" cy="46020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e-IL" dirty="0">
                            <a:solidFill>
                              <a:schemeClr val="tx1"/>
                            </a:solidFill>
                          </a:rPr>
                          <m:t>רדיוס וקטור של נקודה על הספירה</m:t>
                        </m:r>
                        <m:r>
                          <a:rPr lang="he-IL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he-IL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e-IL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he-IL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לבן 2">
                <a:extLst>
                  <a:ext uri="{FF2B5EF4-FFF2-40B4-BE49-F238E27FC236}">
                    <a16:creationId xmlns:a16="http://schemas.microsoft.com/office/drawing/2014/main" id="{4A6066BA-0D62-630C-51DE-46DAA1215E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206" y="2767220"/>
                <a:ext cx="4157585" cy="4602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מלבן 6">
                <a:extLst>
                  <a:ext uri="{FF2B5EF4-FFF2-40B4-BE49-F238E27FC236}">
                    <a16:creationId xmlns:a16="http://schemas.microsoft.com/office/drawing/2014/main" id="{AAF4173B-93C5-D884-AB69-68E30CBBD4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31094" y="3468730"/>
                <a:ext cx="4538836" cy="46020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e-IL" dirty="0">
                            <a:solidFill>
                              <a:schemeClr val="tx1"/>
                            </a:solidFill>
                          </a:rPr>
                          <m:t>רדיוס וקטור של נקודה </m:t>
                        </m:r>
                        <m:r>
                          <m:rPr>
                            <m:nor/>
                          </m:rPr>
                          <a:rPr lang="he-IL" b="0" i="0" dirty="0" smtClean="0">
                            <a:solidFill>
                              <a:schemeClr val="tx1"/>
                            </a:solidFill>
                          </a:rPr>
                          <m:t>ששם נמצא המטען</m:t>
                        </m:r>
                        <m:r>
                          <a:rPr lang="he-IL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he-IL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e-IL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מלבן 6">
                <a:extLst>
                  <a:ext uri="{FF2B5EF4-FFF2-40B4-BE49-F238E27FC236}">
                    <a16:creationId xmlns:a16="http://schemas.microsoft.com/office/drawing/2014/main" id="{AAF4173B-93C5-D884-AB69-68E30CBBD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094" y="3468730"/>
                <a:ext cx="4538836" cy="460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מלבן 9">
            <a:extLst>
              <a:ext uri="{FF2B5EF4-FFF2-40B4-BE49-F238E27FC236}">
                <a16:creationId xmlns:a16="http://schemas.microsoft.com/office/drawing/2014/main" id="{BC01427D-6464-E8F9-CAB0-6AAAFEC724A6}"/>
              </a:ext>
            </a:extLst>
          </p:cNvPr>
          <p:cNvSpPr>
            <a:spLocks/>
          </p:cNvSpPr>
          <p:nvPr/>
        </p:nvSpPr>
        <p:spPr>
          <a:xfrm>
            <a:off x="3921720" y="4245597"/>
            <a:ext cx="4157585" cy="460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he-IL" dirty="0">
                <a:solidFill>
                  <a:schemeClr val="tx1"/>
                </a:solidFill>
              </a:rPr>
              <a:t> – הרדיוס של הספירה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מלבן 11">
                <a:extLst>
                  <a:ext uri="{FF2B5EF4-FFF2-40B4-BE49-F238E27FC236}">
                    <a16:creationId xmlns:a16="http://schemas.microsoft.com/office/drawing/2014/main" id="{AD35992A-77B2-07DC-6B01-EDC41496DB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19575" y="5097320"/>
                <a:ext cx="4961877" cy="1278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he-IL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e-IL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  <m:sub>
                            <m: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he-IL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he-IL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he-IL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he-IL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he-IL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sty m:val="p"/>
                          </m:rP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he-I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 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he-IL" dirty="0">
                    <a:solidFill>
                      <a:schemeClr val="tx1"/>
                    </a:solidFill>
                  </a:rPr>
                  <a:t>כאשר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e-I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he-IL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he-IL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  <m:sub>
                            <m:r>
                              <a:rPr lang="he-IL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= </a:t>
                </a:r>
                <a:r>
                  <a:rPr lang="en-US" dirty="0">
                    <a:solidFill>
                      <a:schemeClr val="tx1"/>
                    </a:solidFill>
                  </a:rPr>
                  <a:t>R</a:t>
                </a:r>
                <a:r>
                  <a:rPr lang="he-IL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מלבן 11">
                <a:extLst>
                  <a:ext uri="{FF2B5EF4-FFF2-40B4-BE49-F238E27FC236}">
                    <a16:creationId xmlns:a16="http://schemas.microsoft.com/office/drawing/2014/main" id="{AD35992A-77B2-07DC-6B01-EDC41496DB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575" y="5097320"/>
                <a:ext cx="4961877" cy="1278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מלבן 19">
                <a:extLst>
                  <a:ext uri="{FF2B5EF4-FFF2-40B4-BE49-F238E27FC236}">
                    <a16:creationId xmlns:a16="http://schemas.microsoft.com/office/drawing/2014/main" id="{EAF04168-3A18-FC19-8B66-BAE6F4DE16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29327" y="4920194"/>
                <a:ext cx="2141881" cy="14742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he-I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he-I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func>
                            <m:funcPr>
                              <m:ctrlP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he-IL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sSub>
                        <m:sSub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func>
                            <m:funcPr>
                              <m:ctrlP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he-IL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sSub>
                        <m:sSub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מלבן 19">
                <a:extLst>
                  <a:ext uri="{FF2B5EF4-FFF2-40B4-BE49-F238E27FC236}">
                    <a16:creationId xmlns:a16="http://schemas.microsoft.com/office/drawing/2014/main" id="{EAF04168-3A18-FC19-8B66-BAE6F4DE16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327" y="4920194"/>
                <a:ext cx="2141881" cy="1474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095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0DA8E5-19FA-C4C0-7BC4-CB36FD387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1" y="78948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he-IL" sz="3600" dirty="0"/>
              <a:t>חישוב האינטגרל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מלבן 13">
                <a:extLst>
                  <a:ext uri="{FF2B5EF4-FFF2-40B4-BE49-F238E27FC236}">
                    <a16:creationId xmlns:a16="http://schemas.microsoft.com/office/drawing/2014/main" id="{562A9B38-7267-ED83-57A3-5EBC67909D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83912" y="3779561"/>
                <a:ext cx="2141881" cy="14742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he-I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he-IL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he-I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he-IL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func>
                            <m:funcPr>
                              <m:ctrlP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he-IL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sSub>
                        <m:sSub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func>
                            <m:funcPr>
                              <m:ctrlP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he-IL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he-IL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sSub>
                        <m:sSub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he-IL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מלבן 13">
                <a:extLst>
                  <a:ext uri="{FF2B5EF4-FFF2-40B4-BE49-F238E27FC236}">
                    <a16:creationId xmlns:a16="http://schemas.microsoft.com/office/drawing/2014/main" id="{562A9B38-7267-ED83-57A3-5EBC67909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912" y="3779561"/>
                <a:ext cx="2141881" cy="1474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21D050C9-805F-5E0C-2E12-287E8007B862}"/>
                  </a:ext>
                </a:extLst>
              </p:cNvPr>
              <p:cNvSpPr txBox="1"/>
              <p:nvPr/>
            </p:nvSpPr>
            <p:spPr>
              <a:xfrm>
                <a:off x="126067" y="1810064"/>
                <a:ext cx="64199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he-IL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he-IL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e-IL" sz="14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he-IL" sz="1400" dirty="0"/>
                  <a:t> </a:t>
                </a:r>
              </a:p>
            </p:txBody>
          </p:sp>
        </mc:Choice>
        <mc:Fallback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21D050C9-805F-5E0C-2E12-287E8007B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67" y="1810064"/>
                <a:ext cx="641991" cy="307777"/>
              </a:xfrm>
              <a:prstGeom prst="rect">
                <a:avLst/>
              </a:prstGeom>
              <a:blipFill>
                <a:blip r:embed="rId3"/>
                <a:stretch>
                  <a:fillRect t="-4000" r="-3810" b="-2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תיבת טקסט 27">
                <a:extLst>
                  <a:ext uri="{FF2B5EF4-FFF2-40B4-BE49-F238E27FC236}">
                    <a16:creationId xmlns:a16="http://schemas.microsoft.com/office/drawing/2014/main" id="{EC01F7B4-AAE6-67AD-51C0-9190EE40336C}"/>
                  </a:ext>
                </a:extLst>
              </p:cNvPr>
              <p:cNvSpPr txBox="1"/>
              <p:nvPr/>
            </p:nvSpPr>
            <p:spPr>
              <a:xfrm>
                <a:off x="-124099" y="1236123"/>
                <a:ext cx="4994306" cy="1378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nary>
                                    <m:naryPr>
                                      <m:limLoc m:val="undOvr"/>
                                      <m:grow m:val="on"/>
                                      <m:ctrlP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𝑅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𝑅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  <m:d>
                                            <m:d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d>
                                                    <m:dPr>
                                                      <m:begChr m:val="|"/>
                                                      <m:endChr m:val="|"/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̅"/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den>
                                              </m:f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p>
                                        <m:sSupPr>
                                          <m:ctrlPr>
                                            <a:rPr lang="he-IL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func>
                                        <m:func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ⅆ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1600" dirty="0"/>
              </a:p>
            </p:txBody>
          </p:sp>
        </mc:Choice>
        <mc:Fallback>
          <p:sp>
            <p:nvSpPr>
              <p:cNvPr id="28" name="תיבת טקסט 27">
                <a:extLst>
                  <a:ext uri="{FF2B5EF4-FFF2-40B4-BE49-F238E27FC236}">
                    <a16:creationId xmlns:a16="http://schemas.microsoft.com/office/drawing/2014/main" id="{EC01F7B4-AAE6-67AD-51C0-9190EE40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4099" y="1236123"/>
                <a:ext cx="4994306" cy="13782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תיבת טקסט 29">
                <a:extLst>
                  <a:ext uri="{FF2B5EF4-FFF2-40B4-BE49-F238E27FC236}">
                    <a16:creationId xmlns:a16="http://schemas.microsoft.com/office/drawing/2014/main" id="{49DA3F4F-0C64-68E9-8C66-471E9ABDF645}"/>
                  </a:ext>
                </a:extLst>
              </p:cNvPr>
              <p:cNvSpPr txBox="1"/>
              <p:nvPr/>
            </p:nvSpPr>
            <p:spPr>
              <a:xfrm>
                <a:off x="3405122" y="1331774"/>
                <a:ext cx="4514646" cy="11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nary>
                                    <m:naryPr>
                                      <m:limLoc m:val="undOvr"/>
                                      <m:grow m:val="on"/>
                                      <m:ctrlP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num>
                                        <m:den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p>
                                        <m:sSup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func>
                                        <m:func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ⅆ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nary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1200" dirty="0"/>
              </a:p>
            </p:txBody>
          </p:sp>
        </mc:Choice>
        <mc:Fallback>
          <p:sp>
            <p:nvSpPr>
              <p:cNvPr id="30" name="תיבת טקסט 29">
                <a:extLst>
                  <a:ext uri="{FF2B5EF4-FFF2-40B4-BE49-F238E27FC236}">
                    <a16:creationId xmlns:a16="http://schemas.microsoft.com/office/drawing/2014/main" id="{49DA3F4F-0C64-68E9-8C66-471E9ABDF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2" y="1331774"/>
                <a:ext cx="4514646" cy="11305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תיבת טקסט 32">
                <a:extLst>
                  <a:ext uri="{FF2B5EF4-FFF2-40B4-BE49-F238E27FC236}">
                    <a16:creationId xmlns:a16="http://schemas.microsoft.com/office/drawing/2014/main" id="{D7564C8D-2C82-7041-5445-734021145F9D}"/>
                  </a:ext>
                </a:extLst>
              </p:cNvPr>
              <p:cNvSpPr txBox="1"/>
              <p:nvPr/>
            </p:nvSpPr>
            <p:spPr>
              <a:xfrm>
                <a:off x="7000592" y="1331774"/>
                <a:ext cx="3556240" cy="1130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nary>
                                    <m:naryPr>
                                      <m:limLoc m:val="undOvr"/>
                                      <m:grow m:val="on"/>
                                      <m:ctrlP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̅"/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𝑅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he-IL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sz="1200" dirty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he-IL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he-IL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he-IL" sz="1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func>
                                        <m:func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ⅆ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nary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1600" dirty="0"/>
              </a:p>
            </p:txBody>
          </p:sp>
        </mc:Choice>
        <mc:Fallback>
          <p:sp>
            <p:nvSpPr>
              <p:cNvPr id="33" name="תיבת טקסט 32">
                <a:extLst>
                  <a:ext uri="{FF2B5EF4-FFF2-40B4-BE49-F238E27FC236}">
                    <a16:creationId xmlns:a16="http://schemas.microsoft.com/office/drawing/2014/main" id="{D7564C8D-2C82-7041-5445-734021145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92" y="1331774"/>
                <a:ext cx="3556240" cy="11305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FDA39618-C34B-D16B-7D31-5EAC0BB459D8}"/>
                  </a:ext>
                </a:extLst>
              </p:cNvPr>
              <p:cNvSpPr txBox="1"/>
              <p:nvPr/>
            </p:nvSpPr>
            <p:spPr>
              <a:xfrm>
                <a:off x="0" y="2551688"/>
                <a:ext cx="6361980" cy="143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nary>
                                    <m:naryPr>
                                      <m:limLoc m:val="undOvr"/>
                                      <m:grow m:val="on"/>
                                      <m:ctrlP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ad>
                                                    <m:radPr>
                                                      <m:degHide m:val="on"/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radPr>
                                                    <m:deg/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𝑥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𝑖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𝑥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  <m: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𝑦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𝑖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𝑦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  <m: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𝑧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𝑖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𝑧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ra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nor/>
                                            </m:rPr>
                                            <a:rPr lang="he-IL" sz="1200" dirty="0"/>
                                            <m:t> </m:t>
                                          </m:r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func>
                                        <m:func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ⅆ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nary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1600" dirty="0"/>
              </a:p>
            </p:txBody>
          </p:sp>
        </mc:Choice>
        <mc:Fallback>
          <p:sp>
            <p:nvSpPr>
              <p:cNvPr id="35" name="תיבת טקסט 34">
                <a:extLst>
                  <a:ext uri="{FF2B5EF4-FFF2-40B4-BE49-F238E27FC236}">
                    <a16:creationId xmlns:a16="http://schemas.microsoft.com/office/drawing/2014/main" id="{FDA39618-C34B-D16B-7D31-5EAC0BB45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51688"/>
                <a:ext cx="6361980" cy="14310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07E618A6-9575-E33F-92B9-74A1261CFB12}"/>
                  </a:ext>
                </a:extLst>
              </p:cNvPr>
              <p:cNvSpPr txBox="1"/>
              <p:nvPr/>
            </p:nvSpPr>
            <p:spPr>
              <a:xfrm>
                <a:off x="-1296437" y="3898405"/>
                <a:ext cx="10569063" cy="143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undOvr"/>
                                  <m:grow m:val="on"/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nary>
                                    <m:naryPr>
                                      <m:limLoc m:val="undOvr"/>
                                      <m:grow m:val="on"/>
                                      <m:ctrlP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  <m:func>
                                                    <m:func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cos</m:t>
                                                      </m:r>
                                                    </m:fName>
                                                    <m:e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𝜑</m:t>
                                                      </m:r>
                                                    </m:e>
                                                  </m:func>
                                                </m:e>
                                              </m:func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func>
                                                    <m:func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asin</m:t>
                                                      </m:r>
                                                    </m:fName>
                                                    <m:e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𝜑</m:t>
                                                      </m:r>
                                                    </m:e>
                                                  </m:func>
                                                </m:e>
                                              </m:func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func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ad>
                                                    <m:radPr>
                                                      <m:degHide m:val="on"/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radPr>
                                                    <m:deg/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sin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𝜃</m:t>
                                                                  </m:r>
                                                                  <m:func>
                                                                    <m:funcPr>
                                                                      <m:ctrlPr>
                                                                        <a:rPr lang="he-IL" sz="1200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</m:ctrlPr>
                                                                    </m:funcPr>
                                                                    <m:fName>
                                                                      <m:r>
                                                                        <m:rPr>
                                                                          <m:sty m:val="p"/>
                                                                        </m:rPr>
                                                                        <a:rPr lang="he-IL" sz="1200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  <m:t>cos</m:t>
                                                                      </m:r>
                                                                    </m:fName>
                                                                    <m:e>
                                                                      <m:r>
                                                                        <a:rPr lang="he-IL" sz="1200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  <m:t>𝜑</m:t>
                                                                      </m:r>
                                                                    </m:e>
                                                                  </m:func>
                                                                </m:e>
                                                              </m:func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𝑥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  <m: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sin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𝜃</m:t>
                                                                  </m:r>
                                                                </m:e>
                                                              </m:func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sin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𝜑</m:t>
                                                                  </m:r>
                                                                </m:e>
                                                              </m:func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𝑦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  <m: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cos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𝜃</m:t>
                                                                  </m:r>
                                                                </m:e>
                                                              </m:func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𝑧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ra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nor/>
                                            </m:rPr>
                                            <a:rPr lang="he-IL" sz="1200" dirty="0"/>
                                            <m:t> </m:t>
                                          </m:r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func>
                                        <m:func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ⅆ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nary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1600" dirty="0"/>
              </a:p>
            </p:txBody>
          </p:sp>
        </mc:Choice>
        <mc:Fallback>
          <p:sp>
            <p:nvSpPr>
              <p:cNvPr id="37" name="תיבת טקסט 36">
                <a:extLst>
                  <a:ext uri="{FF2B5EF4-FFF2-40B4-BE49-F238E27FC236}">
                    <a16:creationId xmlns:a16="http://schemas.microsoft.com/office/drawing/2014/main" id="{07E618A6-9575-E33F-92B9-74A1261CF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6437" y="3898405"/>
                <a:ext cx="10569063" cy="14310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4B43D337-94FB-6542-307C-A155FCBE52C4}"/>
                  </a:ext>
                </a:extLst>
              </p:cNvPr>
              <p:cNvSpPr txBox="1"/>
              <p:nvPr/>
            </p:nvSpPr>
            <p:spPr>
              <a:xfrm>
                <a:off x="217592" y="5221389"/>
                <a:ext cx="7541004" cy="1431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he-IL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limLoc m:val="undOvr"/>
                                  <m:grow m:val="on"/>
                                  <m:ctrlP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nary>
                                    <m:naryPr>
                                      <m:limLoc m:val="undOvr"/>
                                      <m:grow m:val="on"/>
                                      <m:ctrlP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  <m:func>
                                                    <m:func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cos</m:t>
                                                      </m:r>
                                                    </m:fName>
                                                    <m:e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𝜑</m:t>
                                                      </m:r>
                                                    </m:e>
                                                  </m:func>
                                                </m:e>
                                              </m:func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⋅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func>
                                                    <m:funcPr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asin</m:t>
                                                      </m:r>
                                                    </m:fName>
                                                    <m:e>
                                                      <m: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𝜑</m:t>
                                                      </m:r>
                                                    </m:e>
                                                  </m:func>
                                                </m:e>
                                              </m:func>
                                              <m:r>
                                                <a:rPr lang="he-IL" sz="120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func>
                                                <m:func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he-IL" sz="120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</m:func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he-IL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he-IL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ad>
                                                    <m:radPr>
                                                      <m:degHide m:val="on"/>
                                                      <m:ctrlPr>
                                                        <a:rPr lang="he-IL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radPr>
                                                    <m:deg/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sin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𝜃</m:t>
                                                                  </m:r>
                                                                  <m:func>
                                                                    <m:funcPr>
                                                                      <m:ctrlPr>
                                                                        <a:rPr lang="he-IL" sz="1200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</m:ctrlPr>
                                                                    </m:funcPr>
                                                                    <m:fName>
                                                                      <m:r>
                                                                        <m:rPr>
                                                                          <m:sty m:val="p"/>
                                                                        </m:rPr>
                                                                        <a:rPr lang="he-IL" sz="1200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  <m:t>cos</m:t>
                                                                      </m:r>
                                                                    </m:fName>
                                                                    <m:e>
                                                                      <m:r>
                                                                        <a:rPr lang="he-IL" sz="1200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  <m:t>𝜑</m:t>
                                                                      </m:r>
                                                                    </m:e>
                                                                  </m:func>
                                                                </m:e>
                                                              </m:func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𝑥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  <m: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en-US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func>
                                                                    <m:funcPr>
                                                                      <m:ctrlPr>
                                                                        <a:rPr lang="he-IL" sz="1200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</m:ctrlPr>
                                                                    </m:funcPr>
                                                                    <m:fName>
                                                                      <m:r>
                                                                        <m:rPr>
                                                                          <m:sty m:val="p"/>
                                                                        </m:rPr>
                                                                        <a:rPr lang="he-IL" sz="1200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  <m:t>sin</m:t>
                                                                      </m:r>
                                                                    </m:fName>
                                                                    <m:e>
                                                                      <m:r>
                                                                        <a:rPr lang="he-IL" sz="1200" i="1">
                                                                          <a:latin typeface="Cambria Math" panose="02040503050406030204" pitchFamily="18" charset="0"/>
                                                                        </a:rPr>
                                                                        <m:t>𝜃</m:t>
                                                                      </m:r>
                                                                    </m:e>
                                                                  </m:func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sin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𝜑</m:t>
                                                                  </m:r>
                                                                </m:e>
                                                              </m:func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𝑦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  <m:r>
                                                        <a:rPr lang="he-IL" sz="12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he-IL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he-IL" sz="12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𝑅</m:t>
                                                              </m:r>
                                                              <m:func>
                                                                <m:func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funcPr>
                                                                <m:fName>
                                                                  <m: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a:rPr lang="he-IL" sz="1200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cos</m:t>
                                                                  </m:r>
                                                                </m:fName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𝜃</m:t>
                                                                  </m:r>
                                                                </m:e>
                                                              </m:func>
                                                              <m:r>
                                                                <a:rPr lang="he-IL" sz="120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−</m:t>
                                                              </m:r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𝑧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he-IL" sz="1200" i="1"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</m:d>
                                                        </m:e>
                                                        <m:sup>
                                                          <m:r>
                                                            <a:rPr lang="he-IL" sz="120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ra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  <m:r>
                                            <m:rPr>
                                              <m:nor/>
                                            </m:rPr>
                                            <a:rPr lang="he-IL" sz="1200" dirty="0"/>
                                            <m:t> </m:t>
                                          </m:r>
                                        </m:den>
                                      </m:f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func>
                                        <m:funcPr>
                                          <m:ctrlP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he-IL" sz="12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he-IL" sz="1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  <m:r>
                                        <a:rPr lang="he-IL" sz="1200">
                                          <a:latin typeface="Cambria Math" panose="02040503050406030204" pitchFamily="18" charset="0"/>
                                        </a:rPr>
                                        <m:t>ⅆ</m:t>
                                      </m:r>
                                      <m:r>
                                        <a:rPr lang="he-IL" sz="1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nary>
                                  <m:r>
                                    <a:rPr lang="he-IL" sz="120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he-IL" sz="1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he-IL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1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1600" dirty="0"/>
              </a:p>
            </p:txBody>
          </p:sp>
        </mc:Choice>
        <mc:Fallback>
          <p:sp>
            <p:nvSpPr>
              <p:cNvPr id="39" name="תיבת טקסט 38">
                <a:extLst>
                  <a:ext uri="{FF2B5EF4-FFF2-40B4-BE49-F238E27FC236}">
                    <a16:creationId xmlns:a16="http://schemas.microsoft.com/office/drawing/2014/main" id="{4B43D337-94FB-6542-307C-A155FCBE5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92" y="5221389"/>
                <a:ext cx="7541004" cy="14310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280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22C300-6076-4666-2238-3E9710D5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2" y="702156"/>
            <a:ext cx="10904792" cy="73475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400" dirty="0"/>
              <a:t>The algorithm</a:t>
            </a:r>
            <a:endParaRPr lang="he-IL" sz="44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38793E1-D717-E56D-DBDE-18726072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79" y="2097587"/>
            <a:ext cx="5893842" cy="320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8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22C300-6076-4666-2238-3E9710D5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2" y="702156"/>
            <a:ext cx="10904792" cy="73475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400" dirty="0"/>
              <a:t>The algorithm</a:t>
            </a:r>
            <a:endParaRPr lang="he-IL" sz="4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3DD8403-1536-716A-2796-A870E79CF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13" y="2040478"/>
            <a:ext cx="7087573" cy="381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73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22C300-6076-4666-2238-3E9710D5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2" y="702156"/>
            <a:ext cx="10904792" cy="73475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400" dirty="0"/>
              <a:t>The algorithm</a:t>
            </a:r>
            <a:endParaRPr lang="he-IL" sz="44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B046EB7-D045-8001-463C-96B6105A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76" y="1957632"/>
            <a:ext cx="9967824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1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22C300-6076-4666-2238-3E9710D5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2" y="702156"/>
            <a:ext cx="10904792" cy="734758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400" dirty="0"/>
              <a:t>The algorithm</a:t>
            </a:r>
            <a:endParaRPr lang="he-IL" sz="4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180EC97-EF24-4F63-3DF9-AA664239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48" y="2144330"/>
            <a:ext cx="10261303" cy="25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99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A5DB27-135E-BFCD-A7E0-3234C59BD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81192" y="400257"/>
            <a:ext cx="11029616" cy="118872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400" dirty="0"/>
              <a:t>results</a:t>
            </a:r>
            <a:endParaRPr lang="he-IL" sz="5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E646BC12-2000-C6F8-582B-E1FD0AA21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340" y="2434215"/>
            <a:ext cx="2949320" cy="10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188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18_TF33552983" id="{35CFEF63-79DE-477A-A2CA-250C6A3FD2A0}" vid="{3F9E6276-90D2-4E1C-941C-F86EB24443FE}"/>
    </a:ext>
  </a:extLst>
</a:theme>
</file>

<file path=ppt/theme/theme2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של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Words>274</Words>
  <Application>Microsoft Office PowerPoint</Application>
  <PresentationFormat>מסך רחב</PresentationFormat>
  <Paragraphs>52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9" baseType="lpstr">
      <vt:lpstr>Calibri</vt:lpstr>
      <vt:lpstr>Cambria Math</vt:lpstr>
      <vt:lpstr>Tahoma</vt:lpstr>
      <vt:lpstr>Wingdings</vt:lpstr>
      <vt:lpstr>Wingdings 2</vt:lpstr>
      <vt:lpstr>DividendVTI</vt:lpstr>
      <vt:lpstr>עיצוב תרופות ממוחשב – פרויקט 6</vt:lpstr>
      <vt:lpstr>תוכן עניינים</vt:lpstr>
      <vt:lpstr>המטלה</vt:lpstr>
      <vt:lpstr>הקדמה</vt:lpstr>
      <vt:lpstr>מצגת של PowerPoint‏</vt:lpstr>
      <vt:lpstr>תרשים זרימה</vt:lpstr>
      <vt:lpstr>חישוב האינטגרל</vt:lpstr>
      <vt:lpstr>חישוב האינטגרל</vt:lpstr>
      <vt:lpstr>The algorithm</vt:lpstr>
      <vt:lpstr>The algorithm</vt:lpstr>
      <vt:lpstr>The algorithm</vt:lpstr>
      <vt:lpstr>The algorithm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מודלים מתמטיים בטכנולגיית כלכלה ורפואה</dc:title>
  <dc:creator>שרון מלאנקר</dc:creator>
  <cp:lastModifiedBy>שרון מלאנקר</cp:lastModifiedBy>
  <cp:revision>26</cp:revision>
  <dcterms:created xsi:type="dcterms:W3CDTF">2024-02-24T14:19:18Z</dcterms:created>
  <dcterms:modified xsi:type="dcterms:W3CDTF">2024-03-27T22:02:26Z</dcterms:modified>
</cp:coreProperties>
</file>